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6" r:id="rId1"/>
  </p:sldMasterIdLst>
  <p:notesMasterIdLst>
    <p:notesMasterId r:id="rId8"/>
  </p:notesMasterIdLst>
  <p:sldIdLst>
    <p:sldId id="258" r:id="rId2"/>
    <p:sldId id="260" r:id="rId3"/>
    <p:sldId id="257" r:id="rId4"/>
    <p:sldId id="259" r:id="rId5"/>
    <p:sldId id="256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80"/>
    <a:srgbClr val="006A47"/>
    <a:srgbClr val="00955C"/>
    <a:srgbClr val="00954C"/>
    <a:srgbClr val="001382"/>
    <a:srgbClr val="0022DF"/>
    <a:srgbClr val="00C191"/>
    <a:srgbClr val="75F2BE"/>
    <a:srgbClr val="D6CFD7"/>
    <a:srgbClr val="194A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69"/>
    <p:restoredTop sz="94710"/>
  </p:normalViewPr>
  <p:slideViewPr>
    <p:cSldViewPr snapToGrid="0">
      <p:cViewPr varScale="1">
        <p:scale>
          <a:sx n="78" d="100"/>
          <a:sy n="78" d="100"/>
        </p:scale>
        <p:origin x="18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D3899-EB5A-DF43-A7D8-8C81FC1EAE6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C33E4-354B-6C4A-9FF2-BEE39554C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C33E4-354B-6C4A-9FF2-BEE39554C1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57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7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7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6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5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1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0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9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7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5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7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29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39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10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24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24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77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0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77AEEC-5DF0-384E-9259-D55AE4FF977A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4D4662-1171-AB4D-BE63-C9C25FC80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885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  <p:sldLayoutId id="2147484178" r:id="rId12"/>
    <p:sldLayoutId id="2147484179" r:id="rId13"/>
    <p:sldLayoutId id="2147484180" r:id="rId14"/>
    <p:sldLayoutId id="2147484181" r:id="rId15"/>
    <p:sldLayoutId id="2147484182" r:id="rId16"/>
    <p:sldLayoutId id="21474841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1043">
            <a:extLst>
              <a:ext uri="{FF2B5EF4-FFF2-40B4-BE49-F238E27FC236}">
                <a16:creationId xmlns:a16="http://schemas.microsoft.com/office/drawing/2014/main" id="{9F6D95BA-5DEA-4969-83AE-052DB82D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51D18B8-8747-E37F-5EDD-B33B94C429AF}"/>
              </a:ext>
            </a:extLst>
          </p:cNvPr>
          <p:cNvSpPr txBox="1">
            <a:spLocks/>
          </p:cNvSpPr>
          <p:nvPr/>
        </p:nvSpPr>
        <p:spPr>
          <a:xfrm>
            <a:off x="4822722" y="2929465"/>
            <a:ext cx="3547371" cy="1405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800" dirty="0">
                <a:latin typeface="+mn-lt"/>
                <a:ea typeface="+mn-ea"/>
                <a:cs typeface="+mn-cs"/>
              </a:rPr>
              <a:t>2252-MANA-5344-003</a:t>
            </a:r>
          </a:p>
        </p:txBody>
      </p:sp>
      <p:pic>
        <p:nvPicPr>
          <p:cNvPr id="1026" name="Picture 2" descr="UTA Brand Guidelines – UTA Faculty &amp; Staff Resources">
            <a:extLst>
              <a:ext uri="{FF2B5EF4-FFF2-40B4-BE49-F238E27FC236}">
                <a16:creationId xmlns:a16="http://schemas.microsoft.com/office/drawing/2014/main" id="{D8592F13-D897-72B7-6853-A464A3C91B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3" r="20725" b="1"/>
          <a:stretch/>
        </p:blipFill>
        <p:spPr bwMode="auto">
          <a:xfrm>
            <a:off x="20" y="975"/>
            <a:ext cx="457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1044">
            <a:extLst>
              <a:ext uri="{FF2B5EF4-FFF2-40B4-BE49-F238E27FC236}">
                <a16:creationId xmlns:a16="http://schemas.microsoft.com/office/drawing/2014/main" id="{D49AEFCC-D85D-4B6C-8DEE-F75CA9651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F9DED0-A48F-FA4B-BCB2-2AA3B6D18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722" y="508001"/>
            <a:ext cx="3547371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dirty="0"/>
              <a:t>SODEXHO STRATEGY MAP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4EE4C4-30D6-E15A-9A70-A245E8292D15}"/>
              </a:ext>
            </a:extLst>
          </p:cNvPr>
          <p:cNvSpPr txBox="1">
            <a:spLocks/>
          </p:cNvSpPr>
          <p:nvPr/>
        </p:nvSpPr>
        <p:spPr>
          <a:xfrm>
            <a:off x="4822722" y="4576887"/>
            <a:ext cx="3547371" cy="25780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+mn-lt"/>
                <a:ea typeface="+mn-ea"/>
                <a:cs typeface="+mn-cs"/>
              </a:rPr>
              <a:t>BY GROUP 4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+mn-lt"/>
                <a:ea typeface="+mn-ea"/>
                <a:cs typeface="+mn-cs"/>
              </a:rPr>
              <a:t>SHARAN RAGHAVENDRA, RAGOTHAMAN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+mn-lt"/>
                <a:ea typeface="+mn-ea"/>
                <a:cs typeface="+mn-cs"/>
              </a:rPr>
              <a:t>THARUN VENKAT SAI, MURUGAN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+mn-lt"/>
                <a:ea typeface="+mn-ea"/>
                <a:cs typeface="+mn-cs"/>
              </a:rPr>
              <a:t>HARISH, BASE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400" dirty="0">
                <a:latin typeface="+mn-lt"/>
                <a:ea typeface="+mn-ea"/>
                <a:cs typeface="+mn-cs"/>
              </a:rPr>
              <a:t>LOKESH RAM, HARIRAM</a:t>
            </a:r>
          </a:p>
          <a:p>
            <a:pPr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sz="1400" dirty="0" err="1">
                <a:latin typeface="+mn-lt"/>
                <a:ea typeface="+mn-ea"/>
                <a:cs typeface="+mn-cs"/>
              </a:rPr>
              <a:t>Ajey</a:t>
            </a:r>
            <a:r>
              <a:rPr lang="en-US" sz="1400" dirty="0">
                <a:latin typeface="+mn-lt"/>
                <a:ea typeface="+mn-ea"/>
                <a:cs typeface="+mn-cs"/>
              </a:rPr>
              <a:t> </a:t>
            </a:r>
            <a:r>
              <a:rPr lang="en-US" sz="1400" dirty="0" err="1">
                <a:latin typeface="+mn-lt"/>
                <a:ea typeface="+mn-ea"/>
                <a:cs typeface="+mn-cs"/>
              </a:rPr>
              <a:t>dhayashanker</a:t>
            </a:r>
            <a:r>
              <a:rPr lang="en-US" sz="1400" dirty="0">
                <a:latin typeface="+mn-lt"/>
                <a:ea typeface="+mn-ea"/>
                <a:cs typeface="+mn-cs"/>
              </a:rPr>
              <a:t>, </a:t>
            </a:r>
            <a:r>
              <a:rPr lang="en-US" sz="1400" dirty="0" err="1">
                <a:latin typeface="+mn-lt"/>
                <a:ea typeface="+mn-ea"/>
                <a:cs typeface="+mn-cs"/>
              </a:rPr>
              <a:t>loganathan</a:t>
            </a:r>
            <a:endParaRPr lang="en-US" sz="14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99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7A10EF-EA0C-7FD3-C474-87AAB8B97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69297"/>
              </p:ext>
            </p:extLst>
          </p:nvPr>
        </p:nvGraphicFramePr>
        <p:xfrm>
          <a:off x="508001" y="440266"/>
          <a:ext cx="8238066" cy="5662513"/>
        </p:xfrm>
        <a:graphic>
          <a:graphicData uri="http://schemas.openxmlformats.org/drawingml/2006/table">
            <a:tbl>
              <a:tblPr/>
              <a:tblGrid>
                <a:gridCol w="792120">
                  <a:extLst>
                    <a:ext uri="{9D8B030D-6E8A-4147-A177-3AD203B41FA5}">
                      <a16:colId xmlns:a16="http://schemas.microsoft.com/office/drawing/2014/main" val="2516750399"/>
                    </a:ext>
                  </a:extLst>
                </a:gridCol>
                <a:gridCol w="7445946">
                  <a:extLst>
                    <a:ext uri="{9D8B030D-6E8A-4147-A177-3AD203B41FA5}">
                      <a16:colId xmlns:a16="http://schemas.microsoft.com/office/drawing/2014/main" val="948904111"/>
                    </a:ext>
                  </a:extLst>
                </a:gridCol>
              </a:tblGrid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 and Sub Objective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38289327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Increase Cash Flow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095434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F2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Revenue Growth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389854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F2A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Improve Profitability through Multi- Service Expansion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956995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F2B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Cash Flow Optimization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384458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F2C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Enhance Financial Risk Management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854208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C1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Improve Client Satisfaction and Customer Intimacy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97119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C2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Ensure High Quality Service Delivery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817093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C2A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Expand Multi-Service Offerings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375094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C2B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Enhance Customer Self-Governance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67232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O1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Improve Operational Efficiency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637796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O1A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Standardize Service Processes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387993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O1B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Optimize Risk management 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905278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O2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Strengthen Information Technology and Innovation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8700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O3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Enhance Service Standardization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959274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E1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Develop Employee Capabilities and Training 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905341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E1A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Improve Workforce Retention and Well-being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427422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E1B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Strengthen Work-Life Balance and Compensation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31099"/>
                  </a:ext>
                </a:extLst>
              </a:tr>
              <a:tr h="29802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E1C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0">
                          <a:schemeClr val="accent6"/>
                        </a:gs>
                        <a:gs pos="100000">
                          <a:schemeClr val="accent6">
                            <a:lumMod val="45000"/>
                            <a:lumOff val="55000"/>
                          </a:schemeClr>
                        </a:gs>
                        <a:gs pos="0">
                          <a:schemeClr val="bg2">
                            <a:lumMod val="20000"/>
                            <a:lumOff val="80000"/>
                          </a:schemeClr>
                        </a:gs>
                        <a:gs pos="100000">
                          <a:schemeClr val="tx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Promote Market Adaption and Career Growth</a:t>
                      </a:r>
                    </a:p>
                  </a:txBody>
                  <a:tcPr marL="42241" marR="42241" marT="30414" marB="30414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871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2C71BDC-1B2D-A9CE-A1E4-1B34EED18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963" y="213836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5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03721C-DB36-EFC2-0550-8A806D130B45}"/>
              </a:ext>
            </a:extLst>
          </p:cNvPr>
          <p:cNvSpPr/>
          <p:nvPr/>
        </p:nvSpPr>
        <p:spPr>
          <a:xfrm>
            <a:off x="1134533" y="68549"/>
            <a:ext cx="7264399" cy="26841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C1005-4A17-BD8E-63ED-08B274D9CD54}"/>
              </a:ext>
            </a:extLst>
          </p:cNvPr>
          <p:cNvSpPr txBox="1"/>
          <p:nvPr/>
        </p:nvSpPr>
        <p:spPr>
          <a:xfrm>
            <a:off x="2006601" y="68549"/>
            <a:ext cx="57573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BALANCED SCORECARD WITH LIST OF ISSUES/GOALS OF SODEXHO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A848E3-4CD4-37BB-4D59-F4617E9C4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740285"/>
              </p:ext>
            </p:extLst>
          </p:nvPr>
        </p:nvGraphicFramePr>
        <p:xfrm>
          <a:off x="80432" y="516688"/>
          <a:ext cx="8983135" cy="5865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627">
                  <a:extLst>
                    <a:ext uri="{9D8B030D-6E8A-4147-A177-3AD203B41FA5}">
                      <a16:colId xmlns:a16="http://schemas.microsoft.com/office/drawing/2014/main" val="3949053107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1971835740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702771101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350224608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2642334777"/>
                    </a:ext>
                  </a:extLst>
                </a:gridCol>
              </a:tblGrid>
              <a:tr h="8961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INTERVIEWEE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FINANCIAL OUTCOMES</a:t>
                      </a:r>
                    </a:p>
                    <a:p>
                      <a:pPr algn="l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(SHAREHOLDER PERSPECTIVE)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OUTCOMES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(CLIENT PERSPECTIVE)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OPERATIONAL OUTCOMES (INTERNAL PROCESS PERSPECTIVE)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 OUTCOMES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(DEVELOPMENT &amp; GROWTH PERSPECTIVE)</a:t>
                      </a:r>
                    </a:p>
                    <a:p>
                      <a:pPr marL="0" algn="l" defTabSz="457200" rtl="0" eaLnBrk="1" latinLnBrk="0" hangingPunct="1"/>
                      <a:endParaRPr lang="en-US" sz="12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8908206"/>
                  </a:ext>
                </a:extLst>
              </a:tr>
              <a:tr h="89610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CHARLES DUCHEMIN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Increase in cash flow and growth in profit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Wants to maintain market leadership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Emphasizes multi service approach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Direct payment systems -&gt; Cash Flow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Believes multi service offerings increase customer satisfaction and retention.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Strongly believes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customer-oriented service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-&gt; Long Term Success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Encourages innovation to stay competitive in market.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Emphasizes team collaboration across regions.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781811"/>
                  </a:ext>
                </a:extLst>
              </a:tr>
              <a:tr h="1264316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ANNE LESAUVAGE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Targets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15% profit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margin instead of 10% Profit margin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Emphasizes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Cash Flow 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as critical performance metric.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Concerned about late payments directly impacting financial stability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Supports multi-service expansion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Strengthen Market Position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Fulfills all the client expectations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Consistent execution in Sales and Operations.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Provide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Standard Offerings</a:t>
                      </a: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Increase operational efficiency.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Suggests a need for better financial and Data Analysis.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Structured collection approach for public sectors.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Development of Talent and Leadership skills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Ensuring employee job satisfaction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Drive employee engagement activities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122171"/>
                  </a:ext>
                </a:extLst>
              </a:tr>
              <a:tr h="149442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YVES CHAMPION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Multi service offerings will counter emerging competition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Insists innovation will drive new customers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Customer orientation and customer retention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Suggests that Sodexho’s entrepreneurial spirit should be balanced.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Ownership in workplace for better consistency and efficiency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70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48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4953D14-31B7-4C59-41D9-84D1FDBF5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214042"/>
              </p:ext>
            </p:extLst>
          </p:nvPr>
        </p:nvGraphicFramePr>
        <p:xfrm>
          <a:off x="80431" y="1432596"/>
          <a:ext cx="8983135" cy="507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627">
                  <a:extLst>
                    <a:ext uri="{9D8B030D-6E8A-4147-A177-3AD203B41FA5}">
                      <a16:colId xmlns:a16="http://schemas.microsoft.com/office/drawing/2014/main" val="3284449320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668368678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2862849010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52861518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427081219"/>
                    </a:ext>
                  </a:extLst>
                </a:gridCol>
              </a:tblGrid>
              <a:tr h="151842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VINCENT RAMIREZ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Seeks to meet aggressive growth objectives by growing into public and private sector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(MULTI-SERVICE EXPANSION).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Recognizes that the public sector customers focus on security.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Enhances multi-service model to align with client needs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(OPERATIONAL EFFECTIVENESS)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Facilitates the Empowerment of employees to accomplish growth targets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(Venturing into New Markets)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Emphasizes employee engagement and negotiation skills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758185"/>
                  </a:ext>
                </a:extLst>
              </a:tr>
              <a:tr h="167072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BENJAMIN SIMON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Suggests in improving the Start-ups and enforcing contractual price increases.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Develop a good relationship with clients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Advocates new innovations to meet Customer needs.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Emphasizes Employee Training to improve Sales.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Highlights Importance of company values and employee Recognition.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81830"/>
                  </a:ext>
                </a:extLst>
              </a:tr>
              <a:tr h="167072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THOMAS LEE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accent5">
                            <a:lumMod val="30000"/>
                            <a:lumOff val="70000"/>
                          </a:schemeClr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Advocates Multi service offerings as the key to future growth.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Highlights rapid growth in public sector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(300 Persons in 3 Years)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Advocates the requirement of value-added services in order to attract customers in public sector 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(Increase Competitiveness)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Proposes altering the public sectors sales force and service.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Recruit and maintain key peoples in the organization.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30085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0F1E9C-EF54-8266-9AF7-0C3053B0F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570365"/>
              </p:ext>
            </p:extLst>
          </p:nvPr>
        </p:nvGraphicFramePr>
        <p:xfrm>
          <a:off x="80431" y="536487"/>
          <a:ext cx="8983135" cy="896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627">
                  <a:extLst>
                    <a:ext uri="{9D8B030D-6E8A-4147-A177-3AD203B41FA5}">
                      <a16:colId xmlns:a16="http://schemas.microsoft.com/office/drawing/2014/main" val="1553825361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273931841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1535680150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2377474634"/>
                    </a:ext>
                  </a:extLst>
                </a:gridCol>
                <a:gridCol w="1796627">
                  <a:extLst>
                    <a:ext uri="{9D8B030D-6E8A-4147-A177-3AD203B41FA5}">
                      <a16:colId xmlns:a16="http://schemas.microsoft.com/office/drawing/2014/main" val="3488704743"/>
                    </a:ext>
                  </a:extLst>
                </a:gridCol>
              </a:tblGrid>
              <a:tr h="8961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INTERVIEWEE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FINANCIAL OUTCOMES</a:t>
                      </a:r>
                    </a:p>
                    <a:p>
                      <a:pPr algn="l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(SHAREHOLDER PERSPECTIVE)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OUTCOMES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(CLIENT PERSPECTIVE)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OPERATIONAL OUTCOMES (INTERNAL PROCESS PERSPECTIVE)</a:t>
                      </a:r>
                    </a:p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 OUTCOMES</a:t>
                      </a:r>
                    </a:p>
                    <a:p>
                      <a:pPr marL="0" algn="l" defTabSz="4572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(DEVELOPMENT &amp; GROWTH PERSPECTIVE)</a:t>
                      </a:r>
                    </a:p>
                    <a:p>
                      <a:pPr marL="0" algn="l" defTabSz="457200" rtl="0" eaLnBrk="1" latinLnBrk="0" hangingPunct="1"/>
                      <a:endParaRPr lang="en-US" sz="1200" b="1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6"/>
                        </a:gs>
                        <a:gs pos="100000">
                          <a:schemeClr val="accent5">
                            <a:lumMod val="45000"/>
                            <a:lumOff val="55000"/>
                          </a:schemeClr>
                        </a:gs>
                        <a:gs pos="100000">
                          <a:schemeClr val="tx1"/>
                        </a:gs>
                        <a:gs pos="100000">
                          <a:schemeClr val="tx1"/>
                        </a:gs>
                      </a:gsLst>
                      <a:lin ang="135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06362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29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A1B62DC-F3E2-20F6-AEB9-D9C5A8D2A9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77" y="468084"/>
            <a:ext cx="8963246" cy="1536192"/>
          </a:xfrm>
          <a:prstGeom prst="roundRect">
            <a:avLst/>
          </a:prstGeom>
          <a:pattFill prst="pct5">
            <a:fgClr>
              <a:schemeClr val="accent6">
                <a:lumMod val="20000"/>
                <a:lumOff val="80000"/>
              </a:schemeClr>
            </a:fgClr>
            <a:bgClr>
              <a:srgbClr val="00955C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8B7C5370-CCD2-0F88-64AB-BE98A3CA50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77" y="2065563"/>
            <a:ext cx="8963246" cy="1536192"/>
          </a:xfrm>
          <a:prstGeom prst="roundRect">
            <a:avLst/>
          </a:prstGeom>
          <a:pattFill prst="pct5">
            <a:fgClr>
              <a:schemeClr val="accent6">
                <a:lumMod val="20000"/>
                <a:lumOff val="80000"/>
              </a:schemeClr>
            </a:fgClr>
            <a:bgClr>
              <a:srgbClr val="006A47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8411385A-FEB1-F6AA-24A6-17836CE6A3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77" y="3663042"/>
            <a:ext cx="8963246" cy="1536192"/>
          </a:xfrm>
          <a:prstGeom prst="roundRect">
            <a:avLst/>
          </a:prstGeom>
          <a:pattFill prst="pct5">
            <a:fgClr>
              <a:schemeClr val="accent6">
                <a:lumMod val="20000"/>
                <a:lumOff val="80000"/>
              </a:schemeClr>
            </a:fgClr>
            <a:bgClr>
              <a:srgbClr val="005280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D0D21A6-E1D5-C624-429C-9AC58D49D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0377" y="5260521"/>
            <a:ext cx="8963246" cy="1536192"/>
          </a:xfrm>
          <a:prstGeom prst="roundRect">
            <a:avLst/>
          </a:prstGeom>
          <a:pattFill prst="pct5">
            <a:fgClr>
              <a:schemeClr val="accent6">
                <a:lumMod val="20000"/>
                <a:lumOff val="80000"/>
              </a:schemeClr>
            </a:fgClr>
            <a:bgClr>
              <a:srgbClr val="001382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4" name="Bevel 53">
            <a:extLst>
              <a:ext uri="{FF2B5EF4-FFF2-40B4-BE49-F238E27FC236}">
                <a16:creationId xmlns:a16="http://schemas.microsoft.com/office/drawing/2014/main" id="{578EDD4E-438F-1494-9336-FDA8DDE6FE17}"/>
              </a:ext>
            </a:extLst>
          </p:cNvPr>
          <p:cNvSpPr/>
          <p:nvPr/>
        </p:nvSpPr>
        <p:spPr>
          <a:xfrm>
            <a:off x="160867" y="550380"/>
            <a:ext cx="1834188" cy="1371600"/>
          </a:xfrm>
          <a:prstGeom prst="bevel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Bevel 54">
            <a:extLst>
              <a:ext uri="{FF2B5EF4-FFF2-40B4-BE49-F238E27FC236}">
                <a16:creationId xmlns:a16="http://schemas.microsoft.com/office/drawing/2014/main" id="{86780B10-E5FA-C96A-D51E-122BBC71A7CF}"/>
              </a:ext>
            </a:extLst>
          </p:cNvPr>
          <p:cNvSpPr/>
          <p:nvPr/>
        </p:nvSpPr>
        <p:spPr>
          <a:xfrm>
            <a:off x="160867" y="2147859"/>
            <a:ext cx="1834188" cy="1371600"/>
          </a:xfrm>
          <a:prstGeom prst="bevel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Bevel 55">
            <a:extLst>
              <a:ext uri="{FF2B5EF4-FFF2-40B4-BE49-F238E27FC236}">
                <a16:creationId xmlns:a16="http://schemas.microsoft.com/office/drawing/2014/main" id="{2ED246B5-2E7A-013B-0011-DB588AE5F97B}"/>
              </a:ext>
            </a:extLst>
          </p:cNvPr>
          <p:cNvSpPr/>
          <p:nvPr/>
        </p:nvSpPr>
        <p:spPr>
          <a:xfrm>
            <a:off x="160867" y="3745338"/>
            <a:ext cx="1834188" cy="1371600"/>
          </a:xfrm>
          <a:prstGeom prst="bevel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Bevel 56">
            <a:extLst>
              <a:ext uri="{FF2B5EF4-FFF2-40B4-BE49-F238E27FC236}">
                <a16:creationId xmlns:a16="http://schemas.microsoft.com/office/drawing/2014/main" id="{1EB282E2-007C-B1B3-F3CF-CA046DCC2277}"/>
              </a:ext>
            </a:extLst>
          </p:cNvPr>
          <p:cNvSpPr/>
          <p:nvPr/>
        </p:nvSpPr>
        <p:spPr>
          <a:xfrm>
            <a:off x="160867" y="5342817"/>
            <a:ext cx="1834188" cy="1371600"/>
          </a:xfrm>
          <a:prstGeom prst="bevel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2ABEC5D-681D-7042-DC34-6BD32D6FAD7F}"/>
              </a:ext>
            </a:extLst>
          </p:cNvPr>
          <p:cNvSpPr/>
          <p:nvPr/>
        </p:nvSpPr>
        <p:spPr>
          <a:xfrm>
            <a:off x="2371256" y="1173240"/>
            <a:ext cx="2300231" cy="72319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</a:t>
            </a:r>
          </a:p>
        </p:txBody>
      </p:sp>
      <p:sp>
        <p:nvSpPr>
          <p:cNvPr id="70" name="Bent Arrow 69">
            <a:extLst>
              <a:ext uri="{FF2B5EF4-FFF2-40B4-BE49-F238E27FC236}">
                <a16:creationId xmlns:a16="http://schemas.microsoft.com/office/drawing/2014/main" id="{6B769ECE-AB60-3CF1-A8AA-F6691E59D9F3}"/>
              </a:ext>
            </a:extLst>
          </p:cNvPr>
          <p:cNvSpPr/>
          <p:nvPr/>
        </p:nvSpPr>
        <p:spPr>
          <a:xfrm>
            <a:off x="2760809" y="646402"/>
            <a:ext cx="1053163" cy="415637"/>
          </a:xfrm>
          <a:prstGeom prst="ben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Bent Arrow 72">
            <a:extLst>
              <a:ext uri="{FF2B5EF4-FFF2-40B4-BE49-F238E27FC236}">
                <a16:creationId xmlns:a16="http://schemas.microsoft.com/office/drawing/2014/main" id="{C459D51E-AAA0-F61B-C81E-44C140F0C3BA}"/>
              </a:ext>
            </a:extLst>
          </p:cNvPr>
          <p:cNvSpPr/>
          <p:nvPr/>
        </p:nvSpPr>
        <p:spPr>
          <a:xfrm flipH="1">
            <a:off x="6856588" y="646402"/>
            <a:ext cx="1053162" cy="415637"/>
          </a:xfrm>
          <a:prstGeom prst="ben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B8399C7-40B5-5AB6-E921-CF6D9D0E45A8}"/>
              </a:ext>
            </a:extLst>
          </p:cNvPr>
          <p:cNvSpPr/>
          <p:nvPr/>
        </p:nvSpPr>
        <p:spPr>
          <a:xfrm>
            <a:off x="2666851" y="94172"/>
            <a:ext cx="4764027" cy="26841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73DDB71-2021-1A2A-ADD1-974C519DD057}"/>
              </a:ext>
            </a:extLst>
          </p:cNvPr>
          <p:cNvSpPr txBox="1"/>
          <p:nvPr/>
        </p:nvSpPr>
        <p:spPr>
          <a:xfrm>
            <a:off x="4412412" y="64014"/>
            <a:ext cx="2393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MAP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BAC83F-D3D1-3AA2-962D-F633374044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9521" y="950378"/>
            <a:ext cx="1473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</a:t>
            </a: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8EE7D8-7E47-BF0D-4AC7-8DFB049F7E19}"/>
              </a:ext>
            </a:extLst>
          </p:cNvPr>
          <p:cNvSpPr txBox="1"/>
          <p:nvPr/>
        </p:nvSpPr>
        <p:spPr>
          <a:xfrm>
            <a:off x="379521" y="2572049"/>
            <a:ext cx="1473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1811B84-C976-3BDC-9B06-BC526E8DB38E}"/>
              </a:ext>
            </a:extLst>
          </p:cNvPr>
          <p:cNvSpPr txBox="1"/>
          <p:nvPr/>
        </p:nvSpPr>
        <p:spPr>
          <a:xfrm>
            <a:off x="379521" y="4169528"/>
            <a:ext cx="1473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5D674F9-BF52-BD9F-45B3-2F5A3C2F34AB}"/>
              </a:ext>
            </a:extLst>
          </p:cNvPr>
          <p:cNvSpPr txBox="1"/>
          <p:nvPr/>
        </p:nvSpPr>
        <p:spPr>
          <a:xfrm>
            <a:off x="379521" y="5659285"/>
            <a:ext cx="14731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&amp; GROWTH </a:t>
            </a: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917890D-2F2C-C16C-49F8-B7EA9ACC1127}"/>
              </a:ext>
            </a:extLst>
          </p:cNvPr>
          <p:cNvSpPr/>
          <p:nvPr/>
        </p:nvSpPr>
        <p:spPr>
          <a:xfrm>
            <a:off x="4253906" y="524908"/>
            <a:ext cx="2152248" cy="552039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4DFA0514-2C91-E017-75C8-30102A87995A}"/>
              </a:ext>
            </a:extLst>
          </p:cNvPr>
          <p:cNvSpPr/>
          <p:nvPr/>
        </p:nvSpPr>
        <p:spPr>
          <a:xfrm>
            <a:off x="6259817" y="1211988"/>
            <a:ext cx="2342121" cy="723196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CASHFLOW OPTIMIZATION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0D2168B1-2179-167F-CE01-11CD7ACDE09B}"/>
              </a:ext>
            </a:extLst>
          </p:cNvPr>
          <p:cNvSpPr/>
          <p:nvPr/>
        </p:nvSpPr>
        <p:spPr>
          <a:xfrm>
            <a:off x="2147985" y="2136655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EXCELLENCE</a:t>
            </a:r>
          </a:p>
          <a:p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MONOPOLY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COMPETETIVE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54E97E7-C3C2-E7C1-7DAC-CD0FE2225D59}"/>
              </a:ext>
            </a:extLst>
          </p:cNvPr>
          <p:cNvSpPr/>
          <p:nvPr/>
        </p:nvSpPr>
        <p:spPr>
          <a:xfrm>
            <a:off x="3883716" y="2160921"/>
            <a:ext cx="1665987" cy="1265598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INTIMACY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OF SERVICE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482DBB7-2458-10B8-E7BD-8227EFFAE70A}"/>
              </a:ext>
            </a:extLst>
          </p:cNvPr>
          <p:cNvSpPr/>
          <p:nvPr/>
        </p:nvSpPr>
        <p:spPr>
          <a:xfrm>
            <a:off x="5619447" y="2168760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SERVICE EXPANSION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2FDCB7-C399-8D16-18D2-F69DD5E84D1F}"/>
              </a:ext>
            </a:extLst>
          </p:cNvPr>
          <p:cNvSpPr/>
          <p:nvPr/>
        </p:nvSpPr>
        <p:spPr>
          <a:xfrm>
            <a:off x="7355178" y="2127929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SELF GOVERNANCE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7ACBF0-6A94-7B50-C18F-D79ACA70B99F}"/>
              </a:ext>
            </a:extLst>
          </p:cNvPr>
          <p:cNvSpPr/>
          <p:nvPr/>
        </p:nvSpPr>
        <p:spPr>
          <a:xfrm>
            <a:off x="2161027" y="3841430"/>
            <a:ext cx="1665987" cy="128671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INFORMATION TECHNOLOGY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7BFE01-931B-0CAA-7847-11210209EB81}"/>
              </a:ext>
            </a:extLst>
          </p:cNvPr>
          <p:cNvSpPr/>
          <p:nvPr/>
        </p:nvSpPr>
        <p:spPr>
          <a:xfrm>
            <a:off x="3883716" y="3766527"/>
            <a:ext cx="1716748" cy="62346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OPERATIONAL EFFICIENCY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C38055-0A25-14D2-4462-D13AC8F8ABC2}"/>
              </a:ext>
            </a:extLst>
          </p:cNvPr>
          <p:cNvSpPr/>
          <p:nvPr/>
        </p:nvSpPr>
        <p:spPr>
          <a:xfrm>
            <a:off x="3883716" y="4493475"/>
            <a:ext cx="1716748" cy="62346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STANDARDIZATION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9971FB-9D88-E152-2A46-7F0A00120219}"/>
              </a:ext>
            </a:extLst>
          </p:cNvPr>
          <p:cNvSpPr/>
          <p:nvPr/>
        </p:nvSpPr>
        <p:spPr>
          <a:xfrm>
            <a:off x="5661056" y="3734134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RISK MANAGEMENT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01F465-E12C-B604-042F-8837B75DBCD3}"/>
              </a:ext>
            </a:extLst>
          </p:cNvPr>
          <p:cNvSpPr/>
          <p:nvPr/>
        </p:nvSpPr>
        <p:spPr>
          <a:xfrm>
            <a:off x="7381695" y="3713208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203761-97EE-87D0-1C6A-DC4D4E8FA954}"/>
              </a:ext>
            </a:extLst>
          </p:cNvPr>
          <p:cNvSpPr/>
          <p:nvPr/>
        </p:nvSpPr>
        <p:spPr>
          <a:xfrm>
            <a:off x="2161026" y="5342817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DEVELOPMENT AND TRAINING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4DBF54E-8F4B-CE89-DBF8-61EEE943D037}"/>
              </a:ext>
            </a:extLst>
          </p:cNvPr>
          <p:cNvSpPr/>
          <p:nvPr/>
        </p:nvSpPr>
        <p:spPr>
          <a:xfrm>
            <a:off x="3923274" y="5331613"/>
            <a:ext cx="166598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ADAPTION</a:t>
            </a:r>
            <a:endParaRPr 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6C4F1C-D01F-15DE-B523-2E8D5C5C04A4}"/>
              </a:ext>
            </a:extLst>
          </p:cNvPr>
          <p:cNvSpPr/>
          <p:nvPr/>
        </p:nvSpPr>
        <p:spPr>
          <a:xfrm>
            <a:off x="5689191" y="5331613"/>
            <a:ext cx="3289197" cy="1382804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rgbClr val="92D050"/>
              </a:gs>
              <a:gs pos="100000">
                <a:srgbClr val="0C00C6"/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RETENTION</a:t>
            </a:r>
          </a:p>
          <a:p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WORKLIFE BALANCE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PAY</a:t>
            </a:r>
            <a:endParaRPr 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89F229-9658-AF30-F3BF-83F243E5B808}"/>
              </a:ext>
            </a:extLst>
          </p:cNvPr>
          <p:cNvCxnSpPr>
            <a:cxnSpLocks/>
          </p:cNvCxnSpPr>
          <p:nvPr/>
        </p:nvCxnSpPr>
        <p:spPr>
          <a:xfrm flipV="1">
            <a:off x="2848105" y="3363166"/>
            <a:ext cx="0" cy="61421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80978B5-8D5E-C26E-0E96-C9B9104CD830}"/>
              </a:ext>
            </a:extLst>
          </p:cNvPr>
          <p:cNvCxnSpPr>
            <a:cxnSpLocks/>
          </p:cNvCxnSpPr>
          <p:nvPr/>
        </p:nvCxnSpPr>
        <p:spPr>
          <a:xfrm rot="10800000">
            <a:off x="4141834" y="1308226"/>
            <a:ext cx="3425088" cy="816887"/>
          </a:xfrm>
          <a:prstGeom prst="bentConnector3">
            <a:avLst>
              <a:gd name="adj1" fmla="val 4339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3386002-A8BB-D384-DF9C-C3B4FBD879E2}"/>
              </a:ext>
            </a:extLst>
          </p:cNvPr>
          <p:cNvCxnSpPr/>
          <p:nvPr/>
        </p:nvCxnSpPr>
        <p:spPr>
          <a:xfrm flipV="1">
            <a:off x="2936881" y="4965009"/>
            <a:ext cx="0" cy="5237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5E03936C-383E-23DB-D74D-AF4D5555BF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60584" y="4360222"/>
            <a:ext cx="1381628" cy="1015835"/>
          </a:xfrm>
          <a:prstGeom prst="bentConnector3">
            <a:avLst>
              <a:gd name="adj1" fmla="val 2580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838C4C3-AE50-7341-AB9F-670CA01E0824}"/>
              </a:ext>
            </a:extLst>
          </p:cNvPr>
          <p:cNvCxnSpPr>
            <a:cxnSpLocks/>
          </p:cNvCxnSpPr>
          <p:nvPr/>
        </p:nvCxnSpPr>
        <p:spPr>
          <a:xfrm flipV="1">
            <a:off x="2943482" y="5033745"/>
            <a:ext cx="1427768" cy="165481"/>
          </a:xfrm>
          <a:prstGeom prst="bentConnector3">
            <a:avLst>
              <a:gd name="adj1" fmla="val 7203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F30C64B-23F6-A7E9-0293-615FC2E53E1B}"/>
              </a:ext>
            </a:extLst>
          </p:cNvPr>
          <p:cNvCxnSpPr>
            <a:cxnSpLocks/>
          </p:cNvCxnSpPr>
          <p:nvPr/>
        </p:nvCxnSpPr>
        <p:spPr>
          <a:xfrm flipH="1" flipV="1">
            <a:off x="3481150" y="4971087"/>
            <a:ext cx="699951" cy="6433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1E424E40-745D-3447-1833-AA284374FCD4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96789" y="4705124"/>
            <a:ext cx="1410457" cy="29719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C185C7C-C08E-E80F-8474-25563F11E594}"/>
              </a:ext>
            </a:extLst>
          </p:cNvPr>
          <p:cNvCxnSpPr>
            <a:cxnSpLocks/>
          </p:cNvCxnSpPr>
          <p:nvPr/>
        </p:nvCxnSpPr>
        <p:spPr>
          <a:xfrm flipH="1" flipV="1">
            <a:off x="5506527" y="4243493"/>
            <a:ext cx="17905" cy="13154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16E903F1-D6CC-2F50-F5B0-6F988ED3A5B0}"/>
              </a:ext>
            </a:extLst>
          </p:cNvPr>
          <p:cNvCxnSpPr>
            <a:cxnSpLocks/>
          </p:cNvCxnSpPr>
          <p:nvPr/>
        </p:nvCxnSpPr>
        <p:spPr>
          <a:xfrm flipH="1" flipV="1">
            <a:off x="3590351" y="3239492"/>
            <a:ext cx="430398" cy="6654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7630110D-FB4F-F443-9543-1ABA0BA71E2C}"/>
              </a:ext>
            </a:extLst>
          </p:cNvPr>
          <p:cNvCxnSpPr>
            <a:cxnSpLocks/>
          </p:cNvCxnSpPr>
          <p:nvPr/>
        </p:nvCxnSpPr>
        <p:spPr>
          <a:xfrm flipV="1">
            <a:off x="2842164" y="3438061"/>
            <a:ext cx="3453732" cy="241822"/>
          </a:xfrm>
          <a:prstGeom prst="bentConnector3">
            <a:avLst>
              <a:gd name="adj1" fmla="val 9982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953D8375-2721-EBF4-C535-2C66675C7893}"/>
              </a:ext>
            </a:extLst>
          </p:cNvPr>
          <p:cNvCxnSpPr>
            <a:cxnSpLocks/>
          </p:cNvCxnSpPr>
          <p:nvPr/>
        </p:nvCxnSpPr>
        <p:spPr>
          <a:xfrm rot="10800000">
            <a:off x="3105253" y="3486849"/>
            <a:ext cx="2264570" cy="23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7CC9315F-BBF6-8603-8AED-ABCD2AA364F9}"/>
              </a:ext>
            </a:extLst>
          </p:cNvPr>
          <p:cNvCxnSpPr>
            <a:cxnSpLocks/>
          </p:cNvCxnSpPr>
          <p:nvPr/>
        </p:nvCxnSpPr>
        <p:spPr>
          <a:xfrm flipH="1" flipV="1">
            <a:off x="5344573" y="3129070"/>
            <a:ext cx="10157" cy="15317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D74BECDC-6D17-78FD-88D2-7A6C81A15B4D}"/>
              </a:ext>
            </a:extLst>
          </p:cNvPr>
          <p:cNvCxnSpPr>
            <a:cxnSpLocks/>
          </p:cNvCxnSpPr>
          <p:nvPr/>
        </p:nvCxnSpPr>
        <p:spPr>
          <a:xfrm rot="10800000">
            <a:off x="5344574" y="2910733"/>
            <a:ext cx="2552554" cy="1006400"/>
          </a:xfrm>
          <a:prstGeom prst="bentConnector3">
            <a:avLst>
              <a:gd name="adj1" fmla="val 9006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531F6E3-5997-6554-6992-5202D9855E40}"/>
              </a:ext>
            </a:extLst>
          </p:cNvPr>
          <p:cNvCxnSpPr>
            <a:cxnSpLocks/>
          </p:cNvCxnSpPr>
          <p:nvPr/>
        </p:nvCxnSpPr>
        <p:spPr>
          <a:xfrm flipH="1" flipV="1">
            <a:off x="5384632" y="3000981"/>
            <a:ext cx="747277" cy="815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D7487980-618F-6933-E671-2609F6440C89}"/>
              </a:ext>
            </a:extLst>
          </p:cNvPr>
          <p:cNvCxnSpPr>
            <a:cxnSpLocks/>
          </p:cNvCxnSpPr>
          <p:nvPr/>
        </p:nvCxnSpPr>
        <p:spPr>
          <a:xfrm rot="10800000">
            <a:off x="3406155" y="2185440"/>
            <a:ext cx="3748111" cy="1631081"/>
          </a:xfrm>
          <a:prstGeom prst="bentConnector3">
            <a:avLst>
              <a:gd name="adj1" fmla="val -104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Connector: Elbow 158">
            <a:extLst>
              <a:ext uri="{FF2B5EF4-FFF2-40B4-BE49-F238E27FC236}">
                <a16:creationId xmlns:a16="http://schemas.microsoft.com/office/drawing/2014/main" id="{D3B79B0B-59AD-AA6C-A971-974F071118B2}"/>
              </a:ext>
            </a:extLst>
          </p:cNvPr>
          <p:cNvCxnSpPr>
            <a:cxnSpLocks/>
          </p:cNvCxnSpPr>
          <p:nvPr/>
        </p:nvCxnSpPr>
        <p:spPr>
          <a:xfrm flipV="1">
            <a:off x="7160206" y="3188688"/>
            <a:ext cx="890571" cy="644491"/>
          </a:xfrm>
          <a:prstGeom prst="bentConnector3">
            <a:avLst>
              <a:gd name="adj1" fmla="val -78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9" name="Connector: Elbow 238">
            <a:extLst>
              <a:ext uri="{FF2B5EF4-FFF2-40B4-BE49-F238E27FC236}">
                <a16:creationId xmlns:a16="http://schemas.microsoft.com/office/drawing/2014/main" id="{1C80EB7D-692C-B7C5-E0C3-C09E295EE5D8}"/>
              </a:ext>
            </a:extLst>
          </p:cNvPr>
          <p:cNvCxnSpPr>
            <a:cxnSpLocks/>
          </p:cNvCxnSpPr>
          <p:nvPr/>
        </p:nvCxnSpPr>
        <p:spPr>
          <a:xfrm rot="10800000">
            <a:off x="3400214" y="3400055"/>
            <a:ext cx="4382789" cy="5156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2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Picture 1036">
            <a:extLst>
              <a:ext uri="{FF2B5EF4-FFF2-40B4-BE49-F238E27FC236}">
                <a16:creationId xmlns:a16="http://schemas.microsoft.com/office/drawing/2014/main" id="{4432DA31-8308-4F44-87C4-068169AA4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48C08D-70BD-56F4-DAE9-CA293364C62F}"/>
              </a:ext>
            </a:extLst>
          </p:cNvPr>
          <p:cNvSpPr txBox="1"/>
          <p:nvPr/>
        </p:nvSpPr>
        <p:spPr>
          <a:xfrm>
            <a:off x="2471075" y="2554116"/>
            <a:ext cx="4199467" cy="9567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4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TH               NK</a:t>
            </a:r>
          </a:p>
        </p:txBody>
      </p:sp>
      <p:pic>
        <p:nvPicPr>
          <p:cNvPr id="1026" name="Picture 2" descr="UTA Brand Guidelines – UTA Faculty &amp; Staff Resources">
            <a:extLst>
              <a:ext uri="{FF2B5EF4-FFF2-40B4-BE49-F238E27FC236}">
                <a16:creationId xmlns:a16="http://schemas.microsoft.com/office/drawing/2014/main" id="{44637915-F43D-195A-A74A-86EA79AD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3393" y="2204162"/>
            <a:ext cx="1877213" cy="1656640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101561-0EA5-9598-1568-4B76C12CC821}"/>
              </a:ext>
            </a:extLst>
          </p:cNvPr>
          <p:cNvSpPr txBox="1"/>
          <p:nvPr/>
        </p:nvSpPr>
        <p:spPr>
          <a:xfrm>
            <a:off x="3226993" y="3748434"/>
            <a:ext cx="2034389" cy="9567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4800" b="1" cap="all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60263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503</TotalTime>
  <Words>603</Words>
  <Application>Microsoft Office PowerPoint</Application>
  <PresentationFormat>On-screen Show (4:3)</PresentationFormat>
  <Paragraphs>147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Times New Roman</vt:lpstr>
      <vt:lpstr>Celestial</vt:lpstr>
      <vt:lpstr>SODEXHO STRATEGY MAP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Ragothaman, Sharan Raghavendra</dc:creator>
  <cp:lastModifiedBy>LOKESH RAM HARIRAM</cp:lastModifiedBy>
  <cp:revision>13</cp:revision>
  <dcterms:created xsi:type="dcterms:W3CDTF">2025-02-18T06:09:39Z</dcterms:created>
  <dcterms:modified xsi:type="dcterms:W3CDTF">2025-02-27T04:59:47Z</dcterms:modified>
</cp:coreProperties>
</file>